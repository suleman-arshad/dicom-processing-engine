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Measured AVX2 Speedup vs. Scalar (-O2)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 (x)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Gaussian Blur</c:v>
                  </c:pt>
                  <c:pt idx="1">
                    <c:v>Sobel Edge</c:v>
                  </c:pt>
                  <c:pt idx="2">
                    <c:v>Histogram Eq.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14</c:v>
                </c:pt>
                <c:pt idx="2">
                  <c:v>1.07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Speedup (x)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Reconstruction: Speedup vs. Thread Count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 (x)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1.12</c:v>
                </c:pt>
                <c:pt idx="2">
                  <c:v>1.41</c:v>
                </c:pt>
                <c:pt idx="3">
                  <c:v>1.93</c:v>
                </c:pt>
                <c:pt idx="4">
                  <c:v>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linear</c:v>
                </c:pt>
              </c:strCache>
            </c:strRef>
          </c:tx>
          <c:spPr>
            <a:solidFill>
              <a:srgbClr val="C8D0DA"/>
            </a:solidFill>
            <a:ln w="38100" cap="flat">
              <a:solidFill>
                <a:srgbClr val="C8D0D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D0DA"/>
              </a:solidFill>
              <a:ln w="9525" cap="flat">
                <a:solidFill>
                  <a:srgbClr val="C8D0D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Speedup (x)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Detection: Speedup vs. Thread Count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 (x)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1.09</c:v>
                </c:pt>
                <c:pt idx="2">
                  <c:v>1.49</c:v>
                </c:pt>
                <c:pt idx="3">
                  <c:v>1.79</c:v>
                </c:pt>
                <c:pt idx="4">
                  <c:v>1.91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linear</c:v>
                </c:pt>
              </c:strCache>
            </c:strRef>
          </c:tx>
          <c:spPr>
            <a:solidFill>
              <a:srgbClr val="C8D0DA"/>
            </a:solidFill>
            <a:ln w="38100" cap="flat">
              <a:solidFill>
                <a:srgbClr val="C8D0D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D0DA"/>
              </a:solidFill>
              <a:ln w="9525" cap="flat">
                <a:solidFill>
                  <a:srgbClr val="C8D0D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Speedup (x)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entation/icons/dic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PULSE IMAGING ENGINE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</a:rPr>
              <a:t>A High-Performance Medical Imaging Pipeline in C++20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A"/>
                </a:solidFill>
              </a:rPr>
              <a:t>Custom DICOM Ingestion  ·  Multi-Threaded 3D Reconstruction  ·  AVX2 SIMD Filtering  ·  Region-Growing Anomaly Detection  ·  Annotated Export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8"/>
                </a:solidFill>
              </a:rPr>
              <a:t>8-Week Engineering Build  |  Internship Capstone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Why Build This From Scratch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The brief: prove systems-level performance engineering, not just call a library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The Constraint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Hand-roll the DICOM binary parser — no DCMTK in the critical path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Hand-roll the thread pool — std::thread + std::mutex + std::condition_variable only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Hand-roll SIMD filters — raw AVX2 intrinsics, not an image library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</a:rPr>
              <a:t>Every layer independently correctness-verified before the next depends on 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57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Result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A working 5-layer pipeline: Ingestion → Reconstruction → Processing → Detection → Output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Real measured AVX2 speedups — up to 15x on edge detection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Real multi-core speedup on production hardware, verified correct, not just fast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A real bug caught and fixed by the test suite before it reached production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Engineering Approach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The Five-Layer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Each layer consumes the previous layer’s output type and produces the next layer’s input 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0B1F3A"/>
          </a:solidFill>
          <a:ln/>
        </p:spPr>
      </p:sp>
      <p:pic>
        <p:nvPicPr>
          <p:cNvPr id="5" name="Image 0" descr="/home/claude/presentation/icons/ing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606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Ingestion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Week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Custom binary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DICOM parser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rot="5400000">
            <a:off x="2496312" y="3639312"/>
            <a:ext cx="201168" cy="219456"/>
          </a:xfrm>
          <a:prstGeom prst="triangle">
            <a:avLst/>
          </a:prstGeom>
          <a:solidFill>
            <a:srgbClr val="14B8A6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0" y="228600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132B4D"/>
          </a:solidFill>
          <a:ln/>
        </p:spPr>
      </p:sp>
      <p:pic>
        <p:nvPicPr>
          <p:cNvPr id="11" name="Image 1" descr="/home/claude/presentation/icons/reconstru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26060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Reconstruction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834640" y="38404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Week 6-7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34640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HU normalize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trilinear interp.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690872" y="3639312"/>
            <a:ext cx="201168" cy="219456"/>
          </a:xfrm>
          <a:prstGeom prst="triangle">
            <a:avLst/>
          </a:prstGeom>
          <a:solidFill>
            <a:srgbClr val="14B8A6"/>
          </a:solidFill>
          <a:ln/>
        </p:spPr>
      </p:sp>
      <p:sp>
        <p:nvSpPr>
          <p:cNvPr id="16" name="Shape 12"/>
          <p:cNvSpPr/>
          <p:nvPr/>
        </p:nvSpPr>
        <p:spPr>
          <a:xfrm>
            <a:off x="4937760" y="228600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0B1F3A"/>
          </a:solidFill>
          <a:ln/>
        </p:spPr>
      </p:sp>
      <p:pic>
        <p:nvPicPr>
          <p:cNvPr id="17" name="Image 2" descr="/home/claude/presentation/icons/proces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6060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Processing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029200" y="38404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Week 6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0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AVX2 SIMD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filters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 rot="5400000">
            <a:off x="6885432" y="3639312"/>
            <a:ext cx="201168" cy="219456"/>
          </a:xfrm>
          <a:prstGeom prst="triangle">
            <a:avLst/>
          </a:prstGeom>
          <a:solidFill>
            <a:srgbClr val="14B8A6"/>
          </a:solidFill>
          <a:ln/>
        </p:spPr>
      </p:sp>
      <p:sp>
        <p:nvSpPr>
          <p:cNvPr id="22" name="Shape 17"/>
          <p:cNvSpPr/>
          <p:nvPr/>
        </p:nvSpPr>
        <p:spPr>
          <a:xfrm>
            <a:off x="7132320" y="228600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132B4D"/>
          </a:solidFill>
          <a:ln/>
        </p:spPr>
      </p:sp>
      <p:pic>
        <p:nvPicPr>
          <p:cNvPr id="23" name="Image 3" descr="/home/claude/presentation/icons/detec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40" y="260604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Detection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223760" y="38404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Week 7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223760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Region growing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CCL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 rot="5400000">
            <a:off x="9079992" y="3639312"/>
            <a:ext cx="201168" cy="219456"/>
          </a:xfrm>
          <a:prstGeom prst="triangle">
            <a:avLst/>
          </a:prstGeom>
          <a:solidFill>
            <a:srgbClr val="14B8A6"/>
          </a:solidFill>
          <a:ln/>
        </p:spPr>
      </p:sp>
      <p:sp>
        <p:nvSpPr>
          <p:cNvPr id="28" name="Shape 22"/>
          <p:cNvSpPr/>
          <p:nvPr/>
        </p:nvSpPr>
        <p:spPr>
          <a:xfrm>
            <a:off x="9326880" y="228600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0B1F3A"/>
          </a:solidFill>
          <a:ln/>
        </p:spPr>
      </p:sp>
      <p:pic>
        <p:nvPicPr>
          <p:cNvPr id="29" name="Image 4" descr="/home/claude/presentation/icons/outp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2606040"/>
            <a:ext cx="640080" cy="6400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41832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9418320" y="38404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Week 8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418320" y="42519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PNG / DICOM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A"/>
                </a:solidFill>
              </a:rPr>
              <a:t>JSON / FHIR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48640" y="19202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</a:rPr>
              <a:t>Raw .dcm files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326880" y="19202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</a:rPr>
              <a:t>Annotated results on disk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C++20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Language standard throughout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83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CMake + Conan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4231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Build system &amp; dependency management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783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AVX2 Intrinsics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24231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SIMD acceleration for image filters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86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std::thread / mutex / condition_variable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Hand-built thread pool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3657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886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libpng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526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PNG slice export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3657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3886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ThreadSanitizer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6760" y="4526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Race-condition verification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Layer 1: Ingestion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A hand-written binary DICOM Part 10 parser — zero DCMTK dependency in the runtime path</a:t>
            </a:r>
            <a:endParaRPr lang="en-US" sz="1400" dirty="0"/>
          </a:p>
        </p:txBody>
      </p:sp>
      <p:pic>
        <p:nvPicPr>
          <p:cNvPr id="4" name="Image 0" descr="/home/claude/presentation/icons/ingestio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</a:rPr>
              <a:t>Explicit &amp; Implicit VR, Little &amp; Big Endian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</a:rPr>
              <a:t>Correct tag/length parsing incl. sequence skipping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</a:rPr>
              <a:t>Signed and unsigned pixel representation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</a:rPr>
              <a:t>Compressed transfer syntaxes rejected cleanly, by design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FFF3E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</a:rPr>
              <a:t>Real Bug Caught by Testing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846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A signed CT background sentinel (−2000 HU) decoded as unsigned → 63536, producing a physically impossible HU value of 62,512. Caught by sanity-checking output, fixed by honoring PixelRepresentation.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0" y="1737360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Slice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0" y="242316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metadata;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vector&lt;int32_t&gt; pixels;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rows, columns;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rescaleSlope;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rescaleIntercept;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imagePositionZ;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pixelSpacingRowMM;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pixelSpacingColMM;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sliceThicknessMM;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of 5 — Ingestion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Layer 2: Reconstruction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Stack 2D slices into an isotropic 3D volume</a:t>
            </a:r>
            <a:endParaRPr lang="en-US" sz="1400" dirty="0"/>
          </a:p>
        </p:txBody>
      </p:sp>
      <p:pic>
        <p:nvPicPr>
          <p:cNvPr id="4" name="Image 0" descr="/home/claude/presentation/icons/reconstructio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</a:rPr>
              <a:t>Clinical scans are rarely isotropic — e.g. 0.9mm × 0.9mm in-plane pixels but 2.5mm between slices. Downstream 3D operations need uniform spacing.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The Solution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Sort slices by Z-position from ImagePositionPatient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Convert every voxel to Hounsfield Units using each slice’s own rescale slope/intercept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Trilinear interpolation resamples to isotropic spacing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Correctness Proof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4231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Trilinear interpolation is mathematically exact on linear data. We reconstructed a synthetic volume with a known linear HU gradient — output matched the analytic answer exactly at every voxel.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0" y="3840480"/>
            <a:ext cx="4754880" cy="0"/>
          </a:xfrm>
          <a:prstGeom prst="line">
            <a:avLst/>
          </a:prstGeom>
          <a:noFill/>
          <a:ln w="12700">
            <a:solidFill>
              <a:srgbClr val="D5DB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Parallelized (Week 7)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83680" y="44805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Chunked by output Z-slice across the thread pool. Verified bit-identical to the serial result across 1/2/4/8 threads, and race-free under ThreadSanitizer.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of 5 — Reconstruction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Layer 3: 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Hand-written AVX2 SIMD filters, each with a scalar fallback and runtime dispatch</a:t>
            </a:r>
            <a:endParaRPr lang="en-US" sz="1400" dirty="0"/>
          </a:p>
        </p:txBody>
      </p:sp>
      <p:pic>
        <p:nvPicPr>
          <p:cNvPr id="4" name="Image 0" descr="/home/claude/presentation/icons/processing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57200"/>
            <a:ext cx="822960" cy="82296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548640" y="1737360"/>
          <a:ext cx="6309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086600" y="1737360"/>
            <a:ext cx="4526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Interior pixels vectorized 8-wide via __m256 + FMA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Border pixels fall back to scalar (per-lane clamping isn’t safely vectorizable)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Histogram remap uses _mm256_i32gather_ps against a scalar-built CDF table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AVX2 flags scoped to exactly one file — an earlier library-wide flag caused SIGILL on non-AVX2 hardware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of 5 — Processing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Layer 4: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Region growing and connected component labeling in one pass</a:t>
            </a:r>
            <a:endParaRPr lang="en-US" sz="1400" dirty="0"/>
          </a:p>
        </p:txBody>
      </p:sp>
      <p:pic>
        <p:nvPicPr>
          <p:cNvPr id="4" name="Image 0" descr="/home/claude/presentation/icons/detectio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One Algorithm, Two Names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</a:rPr>
              <a:t>A voxel within the HU threshold is a valid seed. Flood-filling it via 26-connectivity and marking every visited voxel is exactly what connected component labeling does — one pass does both.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Parallel Strategy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Partition the volume into Z-slabs, flood-fill each independently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Merge components crossing slab boundaries via union-find — touches only boundary planes, not the whole volume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Ground-Truth Test: Planted Sphere</a:t>
            </a:r>
            <a:endParaRPr lang="en-US" sz="1500" dirty="0"/>
          </a:p>
        </p:txBody>
      </p:sp>
      <p:pic>
        <p:nvPicPr>
          <p:cNvPr id="11" name="Image 1" descr="/home/claude/presentation/icons/verifie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4203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Centroid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0392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Exact match to planted location</a:t>
            </a:r>
            <a:endParaRPr lang="en-US" sz="1200" dirty="0"/>
          </a:p>
        </p:txBody>
      </p:sp>
      <p:pic>
        <p:nvPicPr>
          <p:cNvPr id="14" name="Image 2" descr="/home/claude/presentation/icons/verified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3639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3108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Voxel count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50392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Within 4% of analytic 4/3πr³</a:t>
            </a:r>
            <a:endParaRPr lang="en-US" sz="1200" dirty="0"/>
          </a:p>
        </p:txBody>
      </p:sp>
      <p:pic>
        <p:nvPicPr>
          <p:cNvPr id="17" name="Image 3" descr="/home/claude/presentation/icons/verifie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3075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Mean / stddev HU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503920" y="3703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Exact match on uniform sphere</a:t>
            </a:r>
            <a:endParaRPr lang="en-US" sz="1200" dirty="0"/>
          </a:p>
        </p:txBody>
      </p:sp>
      <p:pic>
        <p:nvPicPr>
          <p:cNvPr id="20" name="Image 4" descr="/home/claude/presentation/icons/verified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325112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372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Serial vs. parallel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503920" y="4297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Identical results, 7 thread counts</a:t>
            </a:r>
            <a:endParaRPr lang="en-US" sz="1200" dirty="0"/>
          </a:p>
        </p:txBody>
      </p:sp>
      <p:pic>
        <p:nvPicPr>
          <p:cNvPr id="23" name="Image 5" descr="/home/claude/presentation/icons/verified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919472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03720" y="4892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Boundary-straddling case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8503920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Explicitly tested — still exact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of 5 — Detection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The Thread Pool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Built from primitives, not std::async — std::thread, std::mutex, std::condition_variable, std::future</a:t>
            </a:r>
            <a:endParaRPr lang="en-US" sz="1400" dirty="0"/>
          </a:p>
        </p:txBody>
      </p:sp>
      <p:pic>
        <p:nvPicPr>
          <p:cNvPr id="4" name="Image 0" descr="/home/claude/presentation/icons/concurrency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572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ThreadPool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ThreadPool(size_t n = 0);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~ThreadPool();  // drains queue,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// then joins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template&lt;class F, class... Args&gt;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submit(F&amp;&amp;, Args&amp;&amp;...)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future&lt;result_t&lt;F,Args...&gt;&gt;;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8E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threadCount() const;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17373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Correctness, Not Just Speed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63640" y="2194560"/>
            <a:ext cx="5349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8-test suite incl. a 10,000-task concurrency stress test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Exception propagation through future.get() verified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Destructor drains all queued work before joining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Race-free under ThreadSanitizer — including one investigated &amp; documented libstdc++ false positive, not silently ignored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</a:rPr>
              <a:t>Applied to two real workloads: Reconstruction and Detection, not a synthetic toy benchmark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Infrastructure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Measured Speedup: Reconstruction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Real hardware — Dell Latitude E6510, 8 logical threads, 5-iteration average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965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Reading This Honestly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237744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Speedup plateaus around 2x, not 8x. This workload is memory-bandwidth-bound — scattered reads dominate arithmetic, so throughput caps on how fast the CPU is fed data, not core count.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420624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</a:rPr>
              <a:t>Correctness was verified independently of these numbers. A sub-linear but verified-correct result is a legitimate finding, not a shortfall.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Reconstruction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Measured Speedup: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128³ volume, 27 planted nodules, 5-iteration average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965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Same Pattern, Same Reason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23774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Flood-fill jumps around 3D neighbor indices with poor cache locality — another memory-bound workload, consistent with the Reconstruction result.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39319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</a:rPr>
              <a:t>Parallel output matched serial exactly at every thread count tested, including a nodule deliberately placed to straddle a slab boundary.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Detection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Layer 5: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One command produces four artifact types</a:t>
            </a:r>
            <a:endParaRPr lang="en-US" sz="1400" dirty="0"/>
          </a:p>
        </p:txBody>
      </p:sp>
      <p:pic>
        <p:nvPicPr>
          <p:cNvPr id="4" name="Image 0" descr="/home/claude/presentation/icons/outpu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572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965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Annotated PNG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Per-slice grayscale export, HU-windowed, findings outlined in red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965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Annotated DICOM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2423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Fresh Explicit VR LE file, findings embedded in a private tag — validated against pydicom, an independent library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251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JSON Findings Report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4709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Structured: series info, volume dimensions, per-finding centroid/bbox/HU stats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4251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HL7 FHIR Bundle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4709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DiagnosticReport + Observation resources, for EHR-integration prototyping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of 5 — Output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Correctness Before Speed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A"/>
                </a:solidFill>
              </a:rPr>
              <a:t>Every layer verified against a known-correct reference before the next layer depended on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32B4D"/>
          </a:solidFill>
          <a:ln/>
        </p:spPr>
      </p:sp>
      <p:pic>
        <p:nvPicPr>
          <p:cNvPr id="5" name="Image 0" descr="/home/claude/presentation/icons/verifie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3852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A"/>
                </a:solidFill>
              </a:rPr>
              <a:t>Fixtures across 3 transfer syntaxes; signed-pixel bug caught &amp; fixed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32B4D"/>
          </a:solidFill>
          <a:ln/>
        </p:spPr>
      </p:sp>
      <p:pic>
        <p:nvPicPr>
          <p:cNvPr id="9" name="Image 1" descr="/home/claude/presentation/icons/verifie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385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Reconstruction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0" y="2423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A"/>
                </a:solidFill>
              </a:rPr>
              <a:t>Analytic linear-gradient check; bit-identical parallel output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3816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32B4D"/>
          </a:solidFill>
          <a:ln/>
        </p:spPr>
      </p:sp>
      <p:pic>
        <p:nvPicPr>
          <p:cNvPr id="13" name="Image 2" descr="/home/claude/presentation/icons/verified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385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82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366760" y="2423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A"/>
                </a:solidFill>
              </a:rPr>
              <a:t>AVX2-vs-scalar diff on non-multiple-of-8 volumes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32B4D"/>
          </a:solidFill>
          <a:ln/>
        </p:spPr>
      </p:sp>
      <p:pic>
        <p:nvPicPr>
          <p:cNvPr id="17" name="Image 3" descr="/home/claude/presentation/icons/verifie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4164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7240" y="4526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A"/>
                </a:solidFill>
              </a:rPr>
              <a:t>Planted-sphere ground truth; boundary-straddling parallel test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32B4D"/>
          </a:solidFill>
          <a:ln/>
        </p:spPr>
      </p:sp>
      <p:pic>
        <p:nvPicPr>
          <p:cNvPr id="21" name="Image 4" descr="/home/claude/presentation/icons/verified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4164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834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Concurrency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72000" y="4526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A"/>
                </a:solidFill>
              </a:rPr>
              <a:t>10,000-task stress test; ThreadSanitizer-verified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138160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32B4D"/>
          </a:solidFill>
          <a:ln/>
        </p:spPr>
      </p:sp>
      <p:pic>
        <p:nvPicPr>
          <p:cNvPr id="25" name="Image 5" descr="/home/claude/presentation/icons/verified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041648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782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366760" y="4526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A"/>
                </a:solidFill>
              </a:rPr>
              <a:t>JSON/FHIR well-formedness; third-party (pydicom) DICOM validation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Philosophy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What’s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Straightforward extensions of patterns already proven in this codebase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" cy="9144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Thread-pool-parallel filters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Apply the same per-Z-slice pattern used in Reconstruction/Detection to the AVX2 filter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9728" cy="9144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Broader clinical 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Run against a larger corpus of real (de-identified) multi-slice series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09728" cy="9144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FHIR conformance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Move from structurally-valid FHIR to a certified clinical profile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09728" cy="9144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GPU acceleration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Trilinear resampling and flood fill are both strong CUDA/compute-shader candidates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Imaging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entation/icons/dic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Pulse Imaging Engine — Questions &amp; Live Demo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8A8"/>
                </a:solidFill>
              </a:rPr>
              <a:t>Full source, architecture document, and test suite available in the project repository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2026-08-12T06:25:59Z</dcterms:created>
  <dcterms:modified xsi:type="dcterms:W3CDTF">2026-08-12T06:25:59Z</dcterms:modified>
</cp:coreProperties>
</file>